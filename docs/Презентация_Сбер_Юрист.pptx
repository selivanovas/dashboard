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Завязка. Представиться: я юрист, не айтишник. Сегодня — про инструмент, который заменил ежедневный ручной обход судов, и про то, как я его собрал с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 к живому демо. Покажу 4 вещи: дайджест в Telegram, дашборд, «Мои дела», телефон. Дальше — по сценарию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Эмоциональный центр доклада. Подчеркнуть: ключевое умение — юридическое (сформулировать ТЗ), а не программирование.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Снять завышенные ожидания. Самому поднять вопрос ФИО/ИБ — лучше, чем получить его внезапно из зала.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21A03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2926080"/>
            <a:ext cx="5029200" cy="5029200"/>
          </a:xfrm>
          <a:prstGeom prst="ellipse">
            <a:avLst/>
          </a:prstGeom>
          <a:solidFill>
            <a:srgbClr val="21A03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406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783080" y="822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01368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судебных дел · ХМАО-Югра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один дашборд заменил
</a:t>
            </a:r>
            <a:endParaRPr lang="en-US" sz="4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ежедневный обход </a:t>
            </a:r>
            <a:pPr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21A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сайтов судов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9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…и как юрист без ИТ-образования собрал это в паре с искусственным интеллектом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3931920" cy="0"/>
          </a:xfrm>
          <a:prstGeom prst="line">
            <a:avLst/>
          </a:prstGeom>
          <a:noFill/>
          <a:ln w="25400">
            <a:solidFill>
              <a:srgbClr val="21A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Селиванов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· ПАО Сбербанк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Каждое утро — вручную обойти все суды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766560" cy="896112"/>
          </a:xfrm>
          <a:prstGeom prst="roundRect">
            <a:avLst>
              <a:gd name="adj" fmla="val 10204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67128"/>
            <a:ext cx="493776" cy="493776"/>
          </a:xfrm>
          <a:prstGeom prst="ellipse">
            <a:avLst/>
          </a:prstGeom>
          <a:solidFill>
            <a:srgbClr val="FBEFD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671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🏛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районных и городских судов
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инстанция по всему ХМАО-Югре — каждую карточку открыть руками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6766560" cy="896112"/>
          </a:xfrm>
          <a:prstGeom prst="roundRect">
            <a:avLst>
              <a:gd name="adj" fmla="val 10204"/>
            </a:avLst>
          </a:prstGeom>
          <a:solidFill>
            <a:srgbClr val="F4F6F5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3191256"/>
            <a:ext cx="493776" cy="493776"/>
          </a:xfrm>
          <a:prstGeom prst="ellipse">
            <a:avLst/>
          </a:prstGeom>
          <a:solidFill>
            <a:srgbClr val="FBEFD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1912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0815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Апелляция и кассация
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 ХМАО-Югры и 7-й кассационный — ещё два источника поверх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6766560" cy="896112"/>
          </a:xfrm>
          <a:prstGeom prst="roundRect">
            <a:avLst>
              <a:gd name="adj" fmla="val 10204"/>
            </a:avLst>
          </a:prstGeom>
          <a:solidFill>
            <a:srgbClr val="F4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4215384"/>
            <a:ext cx="493776" cy="493776"/>
          </a:xfrm>
          <a:prstGeom prst="ellipse">
            <a:avLst/>
          </a:prstGeom>
          <a:solidFill>
            <a:srgbClr val="FBEFD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153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10565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пропустить
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Мотивированный акт, срок на жалобу, заседание — что-то да проспишь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6766560" cy="896112"/>
          </a:xfrm>
          <a:prstGeom prst="roundRect">
            <a:avLst>
              <a:gd name="adj" fmla="val 10204"/>
            </a:avLst>
          </a:prstGeom>
          <a:solidFill>
            <a:srgbClr val="F4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5239512"/>
            <a:ext cx="493776" cy="493776"/>
          </a:xfrm>
          <a:prstGeom prst="ellipse">
            <a:avLst/>
          </a:prstGeom>
          <a:solidFill>
            <a:srgbClr val="FBEFD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2395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12978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картины
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 размазаны по сайтам и Excel-таблицам; целостной сводки нет ни у кого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18120" y="1965960"/>
            <a:ext cx="3703320" cy="4069080"/>
          </a:xfrm>
          <a:prstGeom prst="roundRect">
            <a:avLst>
              <a:gd name="adj" fmla="val 3457"/>
            </a:avLst>
          </a:prstGeom>
          <a:solidFill>
            <a:srgbClr val="0A2E1A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246888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1A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000" dirty="0"/>
          </a:p>
        </p:txBody>
      </p:sp>
      <p:sp>
        <p:nvSpPr>
          <p:cNvPr id="22" name="Text 20"/>
          <p:cNvSpPr/>
          <p:nvPr/>
        </p:nvSpPr>
        <p:spPr>
          <a:xfrm>
            <a:off x="7818120" y="40690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источника, которые надо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под контролем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18120" y="5074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рабочий день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26" name="Text 24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дашборд и утренний дайджест от ИИ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ночью обходит все суды. Искусственный интеллект читает свежие судебные акты и пишет понятную сводку. В 6:45 она приходит в Telegram и пушем на телефон — раньше, чем начинается рабочий день.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603504" cy="603504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26464" y="338328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ИИ-сводка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что изменилось, чем закончилось, в чью пользу — словами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15968"/>
            <a:ext cx="603504" cy="603504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315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26464" y="43159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приходит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Telegram + push в 6:45 МСК, без твоего участия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248656"/>
            <a:ext cx="603504" cy="603504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2486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26464" y="524865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 с собой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дашборд в браузере и как приложение на телефоне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246120" cy="4526280"/>
          </a:xfrm>
          <a:prstGeom prst="roundRect">
            <a:avLst>
              <a:gd name="adj" fmla="val 7887"/>
            </a:avLst>
          </a:prstGeom>
          <a:solidFill>
            <a:srgbClr val="0E1F16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9384"/>
            <a:ext cx="2953512" cy="4233672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209397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Дайджест  </a:t>
            </a:r>
            <a:pPr indent="0" marL="0">
              <a:buNone/>
            </a:pPr>
            <a:r>
              <a:rPr lang="en-US" sz="120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0496" y="238658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инст. · 1   |   Апелл. · 2   |   Касс. ·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40496" y="2679192"/>
            <a:ext cx="2624328" cy="0"/>
          </a:xfrm>
          <a:prstGeom prst="line">
            <a:avLst/>
          </a:prstGeom>
          <a:noFill/>
          <a:ln w="12700">
            <a:solidFill>
              <a:srgbClr val="E3E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2825496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ПЕРВАЯ ИНСТАНЦИЯ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40496" y="3017520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2-30XX/2026  </a:t>
            </a:r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Истец vs Сбербанк — решение изготовлено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0496" y="37764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АПЕЛЛЯЦИЯ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0496" y="3968496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33-41XX/2026  </a:t>
            </a:r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оставлено без изменения · в пользу банка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40496" y="472744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КАССАЦИЯ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0496" y="4919472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8Г-104XX/2026  </a:t>
            </a:r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назначено заседание на 26.06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40496" y="55961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номер — ссылка в карточку дела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28" name="Text 26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00400"/>
            <a:ext cx="6400800" cy="6400800"/>
          </a:xfrm>
          <a:prstGeom prst="ellipse">
            <a:avLst/>
          </a:prstGeom>
          <a:solidFill>
            <a:srgbClr val="21A03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Покажу вживую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0402A"/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Дайджест в Telegram   </a:t>
            </a:r>
            <a:pPr indent="0" marL="0">
              <a:buNone/>
            </a:pPr>
            <a:r>
              <a:rPr lang="en-US" sz="1300" i="1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пришло сегодня утром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904488"/>
            <a:ext cx="548640" cy="548640"/>
          </a:xfrm>
          <a:prstGeom prst="ellipse">
            <a:avLst/>
          </a:prstGeom>
          <a:solidFill>
            <a:srgbClr val="10402A"/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904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и карточка дела   </a:t>
            </a:r>
            <a:pPr indent="0" marL="0">
              <a:buNone/>
            </a:pPr>
            <a:r>
              <a:rPr lang="en-US" sz="1300" i="1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картина, поиск, фильтры, заседания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10402A"/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45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47457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«Мои дела»   </a:t>
            </a:r>
            <a:pPr indent="0" marL="0">
              <a:buNone/>
            </a:pPr>
            <a:r>
              <a:rPr lang="en-US" sz="1300" i="1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персональная подписка по звёздочке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86984"/>
            <a:ext cx="548640" cy="548640"/>
          </a:xfrm>
          <a:prstGeom prst="ellipse">
            <a:avLst/>
          </a:prstGeom>
          <a:solidFill>
            <a:srgbClr val="10402A"/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86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5869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и push   </a:t>
            </a:r>
            <a:pPr indent="0" marL="0">
              <a:buNone/>
            </a:pPr>
            <a:r>
              <a:rPr lang="en-US" sz="1300" i="1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на домашнем экране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дашборд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🏛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инстанции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1-я инстанция, апелляция и кассация в одном месте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✍️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344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Дайджест от 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акта человеческим языком: итог, в чью пользу, почему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24028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🔔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1248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+ 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приходят сами утром, без захода в систему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4340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434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⭐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5020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«Мои дела»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звёздочка на деле → персональный дайджест и пуши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34340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3434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📅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663440" y="5020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Заседания и аналитика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ближайшие СЗ с датами; статистика по ролям и исходам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343400"/>
            <a:ext cx="621792" cy="621792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3434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📱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412480" y="5020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Мобильная PWA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ставится на телефон как приложение, работает офлайн-first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36" name="Text 34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пальцах — четыре шага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343150" cy="2743200"/>
          </a:xfrm>
          <a:prstGeom prst="roundRect">
            <a:avLst>
              <a:gd name="adj" fmla="val 4683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0175" y="2761488"/>
            <a:ext cx="822960" cy="8229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2761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67328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 обходит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сайты судов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4407408"/>
            <a:ext cx="197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ночью собирает карточки всех дел из ГАС «Правосудие»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0662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86150" y="2468880"/>
            <a:ext cx="2343150" cy="2743200"/>
          </a:xfrm>
          <a:prstGeom prst="roundRect">
            <a:avLst>
              <a:gd name="adj" fmla="val 4683"/>
            </a:avLst>
          </a:prstGeom>
          <a:solidFill>
            <a:srgbClr val="EAF7E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6245" y="2761488"/>
            <a:ext cx="822960" cy="8229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3" name="Text 11"/>
          <p:cNvSpPr/>
          <p:nvPr/>
        </p:nvSpPr>
        <p:spPr>
          <a:xfrm>
            <a:off x="4246245" y="2761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2454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3310" y="3767328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Следит за стадией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каждого дела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9030" y="4407408"/>
            <a:ext cx="197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1-я инст. → апелляция → кассация → архив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6732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32220" y="2468880"/>
            <a:ext cx="2343150" cy="2743200"/>
          </a:xfrm>
          <a:prstGeom prst="roundRect">
            <a:avLst>
              <a:gd name="adj" fmla="val 4683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2315" y="2761488"/>
            <a:ext cx="822960" cy="8229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0" name="Text 18"/>
          <p:cNvSpPr/>
          <p:nvPr/>
        </p:nvSpPr>
        <p:spPr>
          <a:xfrm>
            <a:off x="7092315" y="2761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8524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69380" y="3767328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 пишет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дайджест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5100" y="4407408"/>
            <a:ext cx="197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новые акты и излагает суть по-русски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2802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78290" y="2468880"/>
            <a:ext cx="2343150" cy="2743200"/>
          </a:xfrm>
          <a:prstGeom prst="roundRect">
            <a:avLst>
              <a:gd name="adj" fmla="val 4683"/>
            </a:avLst>
          </a:prstGeom>
          <a:solidFill>
            <a:srgbClr val="EAF7E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38385" y="2761488"/>
            <a:ext cx="822960" cy="8229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7" name="Text 25"/>
          <p:cNvSpPr/>
          <p:nvPr/>
        </p:nvSpPr>
        <p:spPr>
          <a:xfrm>
            <a:off x="9938385" y="2761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324594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15450" y="3767328"/>
            <a:ext cx="206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Запускается сам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облаке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61170" y="4407408"/>
            <a:ext cx="1977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расписанию, без участия человека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 этому моменту уже знаю, что произошло за ночь — система всё сделала сама.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34" name="Text 32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понимает путь дела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дело движется по стадиям. Дашборд знает, где оно сейчас, и не дёргает суд лишний раз.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21A038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34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1-я инстанция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02280" y="28346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89960" y="28346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2F8F4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9960" y="2834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Апелляция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0" y="28346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39840" y="28346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3B5BD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9840" y="2834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Кассация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02040" y="28346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189720" y="28346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6B72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834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008" y="45720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текущую стадию
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из десятков дел одновременно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6720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34128" y="45720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 возвраты
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кассация отменила → дело снова в нижестоящей, новый круг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9432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61248" y="45720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беспокоит суд зря
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smart-skip: не открывает карточку без причины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24" name="Text 22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Почти бесплатно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52800" cy="3200400"/>
          </a:xfrm>
          <a:prstGeom prst="roundRect">
            <a:avLst>
              <a:gd name="adj" fmla="val 3429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06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A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инфраструктуру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хостинг, автозапуск и выполнение — на бесплатных тарифах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4360" y="2148840"/>
            <a:ext cx="3352800" cy="3200400"/>
          </a:xfrm>
          <a:prstGeom prst="roundRect">
            <a:avLst>
              <a:gd name="adj" fmla="val 3429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240" y="2606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копейки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8724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день за ИИ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8680" y="420624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только за генерацию дайджеста по будням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68640" y="2148840"/>
            <a:ext cx="3352800" cy="3200400"/>
          </a:xfrm>
          <a:prstGeom prst="roundRect">
            <a:avLst>
              <a:gd name="adj" fmla="val 3429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1520" y="2606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5152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закупленных серверов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42960" y="420624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разворачивали и не закладывали в бюджет ИТ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GitHub Pages + GitHub Actions + Cloudflare Workers (бесплатные тарифы) · ИИ — по запросу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19" name="Text 17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юрист, а не программист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писал код раньше.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Работал в паре с ИИ-помощником: описываю задачу обычными словами по-русски — он пишет код, я проверяю результат на реальных делах. Шаг за шагом так и собралась рабочая система.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6035040" cy="2148840"/>
          </a:xfrm>
          <a:prstGeom prst="roundRect">
            <a:avLst>
              <a:gd name="adj" fmla="val 5106"/>
            </a:avLst>
          </a:prstGeom>
          <a:solidFill>
            <a:srgbClr val="EAF7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41148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умение здесь — юридическое.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 сформулировать, что именно нужно юристу и как ведёт себя дело, — это моя сильная сторона. Код по такому ТЗ пишет ИИ.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росло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2377440"/>
            <a:ext cx="365760" cy="3657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743200"/>
            <a:ext cx="0" cy="384048"/>
          </a:xfrm>
          <a:prstGeom prst="line">
            <a:avLst/>
          </a:prstGeom>
          <a:noFill/>
          <a:ln w="19050">
            <a:solidFill>
              <a:srgbClr val="21A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список дел из одного суда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3127248"/>
            <a:ext cx="365760" cy="3657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3493008"/>
            <a:ext cx="0" cy="384048"/>
          </a:xfrm>
          <a:prstGeom prst="line">
            <a:avLst/>
          </a:prstGeom>
          <a:noFill/>
          <a:ln w="19050">
            <a:solidFill>
              <a:srgbClr val="21A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30815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22 источника + апелляция и кассация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3877056"/>
            <a:ext cx="365760" cy="3657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4242816"/>
            <a:ext cx="0" cy="384048"/>
          </a:xfrm>
          <a:prstGeom prst="line">
            <a:avLst/>
          </a:prstGeom>
          <a:noFill/>
          <a:ln w="19050">
            <a:solidFill>
              <a:srgbClr val="21A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8313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Дайджест: ИИ читает акты и пишет сводку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4626864"/>
            <a:ext cx="365760" cy="3657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4992624"/>
            <a:ext cx="0" cy="384048"/>
          </a:xfrm>
          <a:prstGeom prst="line">
            <a:avLst/>
          </a:prstGeom>
          <a:noFill/>
          <a:ln w="19050">
            <a:solidFill>
              <a:srgbClr val="21A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45811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в Telegram и push на телефон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89520" y="5376672"/>
            <a:ext cx="365760" cy="365760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2440" y="53309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и личные подписки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30" name="Text 28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Границы и о чём подумать заранее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22576"/>
            <a:ext cx="640080" cy="64008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публичные данные
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то, что и так открыто на сайтах судов; внутренние системы банка не трогаются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01968" y="2322576"/>
            <a:ext cx="640080" cy="64008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под регион
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другой тербанк надо прописать свои суды и пару параметров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6F5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379976"/>
            <a:ext cx="640080" cy="64008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3799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поддержка
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суды иногда меняют вёрстку — парсер конкретного суда правится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BEFD8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4379976"/>
            <a:ext cx="640080" cy="640080"/>
          </a:xfrm>
          <a:prstGeom prst="ellipse">
            <a:avLst/>
          </a:prstGeom>
          <a:solidFill>
            <a:srgbClr val="F6DFB3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43799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ИБ
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ФИО сторон на доступной странице стоит согласовать заранее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22" name="Text 20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ТИРАЖИРОВАНИЕ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завести такой же у себя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914400" cy="91440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ваших судов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326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судов вашего региона по трём инстанциям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67200" y="2194560"/>
            <a:ext cx="914400" cy="91440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9" name="Text 7"/>
          <p:cNvSpPr/>
          <p:nvPr/>
        </p:nvSpPr>
        <p:spPr>
          <a:xfrm>
            <a:off x="426720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67200" y="329184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День-два на настройку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67200" y="3749040"/>
            <a:ext cx="326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прописать суды, подключить уведомления, проверить на ваших делах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94320" y="2194560"/>
            <a:ext cx="914400" cy="914400"/>
          </a:xfrm>
          <a:prstGeom prst="ellipse">
            <a:avLst/>
          </a:prstGeom>
          <a:solidFill>
            <a:srgbClr val="EAF7EE"/>
          </a:solidFill>
          <a:ln/>
        </p:spPr>
      </p:sp>
      <p:sp>
        <p:nvSpPr>
          <p:cNvPr id="13" name="Text 11"/>
          <p:cNvSpPr/>
          <p:nvPr/>
        </p:nvSpPr>
        <p:spPr>
          <a:xfrm>
            <a:off x="789432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94320" y="329184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Небольшой бюджет на ИИ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94320" y="3749040"/>
            <a:ext cx="326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копейки в день за генерацию дайджеста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0A2E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292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поделиться наработками и помочь с запуском.  </a:t>
            </a:r>
            <a:pPr indent="0" marL="0">
              <a:buNone/>
            </a:pPr>
            <a:r>
              <a:rPr lang="en-US" sz="1500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общая — меняется список судов под ваш регион.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2786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176" dirty="0"/>
          </a:p>
        </p:txBody>
      </p:sp>
      <p:sp>
        <p:nvSpPr>
          <p:cNvPr id="20" name="Text 18"/>
          <p:cNvSpPr/>
          <p:nvPr/>
        </p:nvSpPr>
        <p:spPr>
          <a:xfrm>
            <a:off x="1042416" y="6272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Сбер Юрист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272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7315200" cy="7315200"/>
          </a:xfrm>
          <a:prstGeom prst="ellipse">
            <a:avLst/>
          </a:prstGeom>
          <a:solidFill>
            <a:srgbClr val="21A03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1887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21A0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5763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544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Забирайте идею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юрист и ИИ закрыли задачу, </a:t>
            </a:r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которую обычно нужен отдельный ИТ-проект.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3657600" cy="0"/>
          </a:xfrm>
          <a:prstGeom prst="line">
            <a:avLst/>
          </a:prstGeom>
          <a:noFill/>
          <a:ln w="25400">
            <a:solidFill>
              <a:srgbClr val="21A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Селиванов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· ПАО Сбербанк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C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Демо-дашборд: selivanovas.github.io/dashboard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показать вживую и помочь завести у вас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Сбер Юрист — мониторинг судебных дел</dc:title>
  <dc:subject>PptxGenJS Presentation</dc:subject>
  <dc:creator>Александр Селиванов</dc:creator>
  <cp:lastModifiedBy>Александр Селиванов</cp:lastModifiedBy>
  <cp:revision>1</cp:revision>
  <dcterms:created xsi:type="dcterms:W3CDTF">2026-06-26T11:26:26Z</dcterms:created>
  <dcterms:modified xsi:type="dcterms:W3CDTF">2026-06-26T11:26:26Z</dcterms:modified>
</cp:coreProperties>
</file>